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74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689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Animated GIF - plays in Slide Show mode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Animated GIF - plays in Slide Show mode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2B67-22F4-8D7A-739F-4F09200F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CA246-2E30-D84B-164F-0C80E4204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85653-8762-4816-59DD-FB5A13F94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809C0-2091-8F57-9307-214C10C24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62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B8E5-DFF7-F273-D6CB-8B4F725E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4C404-94CE-A6B8-255E-F8C8182CA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5D736-4CBD-B0F7-46FA-CD2FB0037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2D013-95FA-29A9-6E9F-7185731ED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7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00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451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Constructors, Destructors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the Copy That Crashes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Oriented Programming Sessional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 of Computer Science &amp; Engineering</a:t>
            </a:r>
            <a:endParaRPr lang="en-US" sz="15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Bangladesh Army University of Science &amp; Technology, Khulna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left 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634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wrote a full class with private data and public functions.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used static members to count objects and generate IDs automatically.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you still had to call setData() by hand after creating every object.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0908792" cy="1463040"/>
          </a:xfrm>
          <a:prstGeom prst="roundRect">
            <a:avLst>
              <a:gd name="adj" fmla="val 3750"/>
            </a:avLst>
          </a:prstGeom>
          <a:solidFill>
            <a:srgbClr val="E2E9EB"/>
          </a:solidFill>
          <a:ln w="12700">
            <a:solidFill>
              <a:srgbClr val="E2E9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023360"/>
            <a:ext cx="10085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that stops. Objects will initialise themselves.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 ·  3 HOURS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17520" y="2240280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default, one-argument, three-argument, and a trap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07208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280720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2944368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Destructors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3355848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the order, then check your prediction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22776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3922776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4059936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Shallow vs deep copy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17520" y="4471416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the program crash, then fix it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38344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08760" y="5038344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min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17520" y="5175504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017520" y="5586984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Message class that survives being copied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function that runs by itself when an object is created.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constructors, one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810512"/>
            <a:ext cx="10405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roll; string name; double marks;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public: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Student()                  { /* defaults */ }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Student(int r)             { /* roll only */ }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Student(int r, string n, double m)  { /* all */ }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a;                     // first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b(101);                // second</a:t>
            </a:r>
            <a:endParaRPr lang="en-US" sz="17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c(102, "Karim", 85.5); // third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compiler chooses</a:t>
            </a:r>
            <a:endParaRPr lang="en-US" sz="3000" dirty="0"/>
          </a:p>
        </p:txBody>
      </p:sp>
      <p:pic>
        <p:nvPicPr>
          <p:cNvPr id="4" name="Image 0" descr="/home/claude/img/ctor_overloa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371600"/>
            <a:ext cx="8659368" cy="50932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  ·  EXPERIMENT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 everyone falls into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011680"/>
            <a:ext cx="10405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e();</a:t>
            </a:r>
            <a:endParaRPr lang="en-US" sz="20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e.display();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106344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 this. Write down the exact error.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compiler reads Student e(); as a FUNCTION declaration, not an object.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there are no arguments, leave the brackets off entirely: Student e;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Destructors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the output before you run it. Then compare.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your prediction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874520"/>
            <a:ext cx="55595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Marker a("a");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Marker b("b");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Marker c("c");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insideFunction();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9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9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132320" y="1920240"/>
            <a:ext cx="4416552" cy="3017520"/>
          </a:xfrm>
          <a:prstGeom prst="roundRect">
            <a:avLst>
              <a:gd name="adj" fmla="val 1818"/>
            </a:avLst>
          </a:prstGeom>
          <a:solidFill>
            <a:srgbClr val="E2E9EB"/>
          </a:solidFill>
          <a:ln w="12700">
            <a:solidFill>
              <a:srgbClr val="E2E9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paper, before you compile: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52360" y="260604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what ORDER do the constructor and destructor messages appear?</a:t>
            </a:r>
            <a:endParaRPr lang="en-US" sz="1900" dirty="0"/>
          </a:p>
          <a:p>
            <a:pPr marL="0" indent="0">
              <a:lnSpc>
                <a:spcPts val="2600"/>
              </a:lnSpc>
              <a:buNone/>
            </a:pPr>
            <a:endParaRPr lang="en-US" sz="19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exactly does c die?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prediction goes in the lab report, right or wrong. That is the point of it.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life of an object</a:t>
            </a:r>
            <a:endParaRPr lang="en-US" sz="3000" dirty="0"/>
          </a:p>
        </p:txBody>
      </p:sp>
      <p:pic>
        <p:nvPicPr>
          <p:cNvPr id="4" name="Image 0" descr="/home/claude/img/object_lifetim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371600"/>
            <a:ext cx="8165592" cy="4325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Shallow vs deep copy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most important half hour of the semester so far.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block, or two?</a:t>
            </a:r>
            <a:endParaRPr lang="en-US" sz="3000" dirty="0"/>
          </a:p>
        </p:txBody>
      </p:sp>
      <p:pic>
        <p:nvPicPr>
          <p:cNvPr id="4" name="Image 0" descr="/home/claude/img/shallow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1325880"/>
            <a:ext cx="8778240" cy="5056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CCC59-6483-ACC5-AD2D-B17B48A6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848667-84BD-9DC4-8F39-40FA57CE1352}"/>
              </a:ext>
            </a:extLst>
          </p:cNvPr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  ·  STEP 1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C06C65-4A48-7AF9-111E-4B6578E4AED1}"/>
              </a:ext>
            </a:extLst>
          </p:cNvPr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crash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8DE2986-2DAD-E3B5-C955-9B630626F09B}"/>
              </a:ext>
            </a:extLst>
          </p:cNvPr>
          <p:cNvSpPr/>
          <p:nvPr/>
        </p:nvSpPr>
        <p:spPr>
          <a:xfrm>
            <a:off x="6400800" y="1322615"/>
            <a:ext cx="5673012" cy="5236937"/>
          </a:xfrm>
          <a:prstGeom prst="roundRect">
            <a:avLst>
              <a:gd name="adj" fmla="val 2319"/>
            </a:avLst>
          </a:prstGeom>
          <a:solidFill>
            <a:srgbClr val="3A1C10"/>
          </a:solidFill>
          <a:ln w="12700">
            <a:solidFill>
              <a:srgbClr val="3A1C1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606812-AF20-3A73-CDC8-A30489CB3835}"/>
              </a:ext>
            </a:extLst>
          </p:cNvPr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697491C-4CBB-02D6-11BC-AF7308FD4AA5}"/>
              </a:ext>
            </a:extLst>
          </p:cNvPr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E2105EE-1DA3-05C4-0272-2D93CD0D16D9}"/>
              </a:ext>
            </a:extLst>
          </p:cNvPr>
          <p:cNvSpPr/>
          <p:nvPr/>
        </p:nvSpPr>
        <p:spPr>
          <a:xfrm>
            <a:off x="565436" y="1322615"/>
            <a:ext cx="5673012" cy="4364953"/>
          </a:xfrm>
          <a:prstGeom prst="roundRect">
            <a:avLst>
              <a:gd name="adj" fmla="val 2319"/>
            </a:avLst>
          </a:prstGeom>
          <a:solidFill>
            <a:srgbClr val="3A1C10"/>
          </a:solidFill>
          <a:ln w="12700">
            <a:solidFill>
              <a:srgbClr val="3A1C1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BC230-22A8-C711-34FC-A90C65F507FC}"/>
              </a:ext>
            </a:extLst>
          </p:cNvPr>
          <p:cNvSpPr txBox="1"/>
          <p:nvPr/>
        </p:nvSpPr>
        <p:spPr>
          <a:xfrm>
            <a:off x="718457" y="1346875"/>
            <a:ext cx="467018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class Name</a:t>
            </a:r>
          </a:p>
          <a:p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</a:rPr>
              <a:t>  private:</a:t>
            </a:r>
          </a:p>
          <a:p>
            <a:r>
              <a:rPr lang="en-US" dirty="0">
                <a:solidFill>
                  <a:schemeClr val="bg1"/>
                </a:solidFill>
              </a:rPr>
              <a:t>    char *text;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  public:</a:t>
            </a:r>
          </a:p>
          <a:p>
            <a:r>
              <a:rPr lang="en-US" dirty="0">
                <a:solidFill>
                  <a:schemeClr val="bg1"/>
                </a:solidFill>
              </a:rPr>
              <a:t>    // constructor - allocates its own memory</a:t>
            </a:r>
          </a:p>
          <a:p>
            <a:r>
              <a:rPr lang="en-US" dirty="0">
                <a:solidFill>
                  <a:schemeClr val="bg1"/>
                </a:solidFill>
              </a:rPr>
              <a:t>    Name(const char *n)</a:t>
            </a:r>
          </a:p>
          <a:p>
            <a:r>
              <a:rPr lang="en-US" dirty="0">
                <a:solidFill>
                  <a:schemeClr val="bg1"/>
                </a:solidFill>
              </a:rPr>
              <a:t>   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text = new char[</a:t>
            </a:r>
            <a:r>
              <a:rPr lang="en-US" dirty="0" err="1">
                <a:solidFill>
                  <a:schemeClr val="bg1"/>
                </a:solidFill>
              </a:rPr>
              <a:t>strlen</a:t>
            </a:r>
            <a:r>
              <a:rPr lang="en-US" dirty="0">
                <a:solidFill>
                  <a:schemeClr val="bg1"/>
                </a:solidFill>
              </a:rPr>
              <a:t>(n) + 1];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strcpy</a:t>
            </a:r>
            <a:r>
              <a:rPr lang="en-US" dirty="0">
                <a:solidFill>
                  <a:schemeClr val="bg1"/>
                </a:solidFill>
              </a:rPr>
              <a:t>(text, n);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cout</a:t>
            </a:r>
            <a:r>
              <a:rPr lang="en-US" dirty="0">
                <a:solidFill>
                  <a:schemeClr val="bg1"/>
                </a:solidFill>
              </a:rPr>
              <a:t> &lt;&lt; "  constructor  : " &lt;&lt; text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 &lt;&lt; "   at address " &lt;&lt; (void*)text &lt;&lt; "\n";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EB584-E4C2-3BA5-3AC1-8BCA91464A2A}"/>
              </a:ext>
            </a:extLst>
          </p:cNvPr>
          <p:cNvSpPr txBox="1"/>
          <p:nvPr/>
        </p:nvSpPr>
        <p:spPr>
          <a:xfrm>
            <a:off x="6350140" y="1481239"/>
            <a:ext cx="5872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    void change(const char *n)</a:t>
            </a:r>
          </a:p>
          <a:p>
            <a:r>
              <a:rPr lang="en-US" dirty="0">
                <a:solidFill>
                  <a:schemeClr val="bg1"/>
                </a:solidFill>
              </a:rPr>
              <a:t>   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strcpy</a:t>
            </a:r>
            <a:r>
              <a:rPr lang="en-US" dirty="0">
                <a:solidFill>
                  <a:schemeClr val="bg1"/>
                </a:solidFill>
              </a:rPr>
              <a:t>(text, n);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    void display()</a:t>
            </a:r>
          </a:p>
          <a:p>
            <a:r>
              <a:rPr lang="en-US" dirty="0">
                <a:solidFill>
                  <a:schemeClr val="bg1"/>
                </a:solidFill>
              </a:rPr>
              <a:t>   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cout</a:t>
            </a:r>
            <a:r>
              <a:rPr lang="en-US" dirty="0">
                <a:solidFill>
                  <a:schemeClr val="bg1"/>
                </a:solidFill>
              </a:rPr>
              <a:t> &lt;&lt; "      " &lt;&lt; text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 &lt;&lt; "   at address " &lt;&lt; (void*)text &lt;&lt; "\n";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    ~Name()</a:t>
            </a:r>
          </a:p>
          <a:p>
            <a:r>
              <a:rPr lang="en-US" dirty="0">
                <a:solidFill>
                  <a:schemeClr val="bg1"/>
                </a:solidFill>
              </a:rPr>
              <a:t>   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cout</a:t>
            </a:r>
            <a:r>
              <a:rPr lang="en-US" dirty="0">
                <a:solidFill>
                  <a:schemeClr val="bg1"/>
                </a:solidFill>
              </a:rPr>
              <a:t> &lt;&lt; "  destructor   : freeing " &lt;&lt; (void*)text &lt;&lt; "\n";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delete[] text;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618816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0D9AA-788C-055F-D7B4-C8645F6E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230888-3DB7-48E1-B845-5F73C0F52024}"/>
              </a:ext>
            </a:extLst>
          </p:cNvPr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  ·  STEP 1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BD2C18-BDD1-6F3C-C4D0-968A4D128E71}"/>
              </a:ext>
            </a:extLst>
          </p:cNvPr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crash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C59656-95B2-94E9-911F-3ADCF970CBA3}"/>
              </a:ext>
            </a:extLst>
          </p:cNvPr>
          <p:cNvSpPr/>
          <p:nvPr/>
        </p:nvSpPr>
        <p:spPr>
          <a:xfrm>
            <a:off x="6400800" y="1322615"/>
            <a:ext cx="5673012" cy="4364953"/>
          </a:xfrm>
          <a:prstGeom prst="roundRect">
            <a:avLst>
              <a:gd name="adj" fmla="val 2319"/>
            </a:avLst>
          </a:prstGeom>
          <a:solidFill>
            <a:srgbClr val="3A1C10"/>
          </a:solidFill>
          <a:ln w="12700">
            <a:solidFill>
              <a:srgbClr val="3A1C1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FB46B8-6739-BB8E-2EFE-1FD5DB7D27E2}"/>
              </a:ext>
            </a:extLst>
          </p:cNvPr>
          <p:cNvSpPr/>
          <p:nvPr/>
        </p:nvSpPr>
        <p:spPr>
          <a:xfrm>
            <a:off x="6540758" y="1554480"/>
            <a:ext cx="5533053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  : Karim   at address 0x5575...2b0</a:t>
            </a: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copying:</a:t>
            </a: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Karim   at address 0x5575...2b0</a:t>
            </a: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Karim   at address 0x5575...2b0     &lt;- SAME address</a:t>
            </a: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destructor   : freeing 0x5575...2b0</a:t>
            </a: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destructor   : freeing 0x5575...2b0     &lt;- again!</a:t>
            </a: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free(): double free detected in tcache 2</a:t>
            </a:r>
            <a:endParaRPr lang="en-US" sz="16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Aborted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7BC697-8C87-3D67-535E-00E3A357D21D}"/>
              </a:ext>
            </a:extLst>
          </p:cNvPr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903351-A423-F1BE-C74B-9F1F75C5DB22}"/>
              </a:ext>
            </a:extLst>
          </p:cNvPr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38F51520-5FB6-38C7-9B50-0389ED2A1D7B}"/>
              </a:ext>
            </a:extLst>
          </p:cNvPr>
          <p:cNvSpPr/>
          <p:nvPr/>
        </p:nvSpPr>
        <p:spPr>
          <a:xfrm>
            <a:off x="565436" y="1322615"/>
            <a:ext cx="5673012" cy="5078185"/>
          </a:xfrm>
          <a:prstGeom prst="roundRect">
            <a:avLst>
              <a:gd name="adj" fmla="val 2319"/>
            </a:avLst>
          </a:prstGeom>
          <a:solidFill>
            <a:srgbClr val="3A1C10"/>
          </a:solidFill>
          <a:ln w="12700">
            <a:solidFill>
              <a:srgbClr val="3A1C1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EA6AAD-8345-6DC4-F47D-F2752983786D}"/>
              </a:ext>
            </a:extLst>
          </p:cNvPr>
          <p:cNvSpPr txBox="1"/>
          <p:nvPr/>
        </p:nvSpPr>
        <p:spPr>
          <a:xfrm>
            <a:off x="718457" y="1346875"/>
            <a:ext cx="3894271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    int main()</a:t>
            </a:r>
          </a:p>
          <a:p>
            <a:r>
              <a:rPr lang="en-US" sz="1400" dirty="0">
                <a:solidFill>
                  <a:schemeClr val="bg1"/>
                </a:solidFill>
              </a:rPr>
              <a:t>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Name a("Karim");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Name b(a);          // copy constructor runs here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    </a:t>
            </a:r>
            <a:r>
              <a:rPr lang="en-US" sz="1400" dirty="0" err="1">
                <a:solidFill>
                  <a:schemeClr val="bg1"/>
                </a:solidFill>
              </a:rPr>
              <a:t>cout</a:t>
            </a:r>
            <a:r>
              <a:rPr lang="en-US" sz="1400" dirty="0">
                <a:solidFill>
                  <a:schemeClr val="bg1"/>
                </a:solidFill>
              </a:rPr>
              <a:t> &lt;&lt; "\n  after copying:\n";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</a:t>
            </a:r>
            <a:r>
              <a:rPr lang="en-US" sz="1400" dirty="0" err="1">
                <a:solidFill>
                  <a:schemeClr val="bg1"/>
                </a:solidFill>
              </a:rPr>
              <a:t>a.display</a:t>
            </a:r>
            <a:r>
              <a:rPr lang="en-US" sz="1400" dirty="0">
                <a:solidFill>
                  <a:schemeClr val="bg1"/>
                </a:solidFill>
              </a:rPr>
              <a:t>();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</a:t>
            </a:r>
            <a:r>
              <a:rPr lang="en-US" sz="1400" dirty="0" err="1">
                <a:solidFill>
                  <a:schemeClr val="bg1"/>
                </a:solidFill>
              </a:rPr>
              <a:t>b.display</a:t>
            </a:r>
            <a:r>
              <a:rPr lang="en-US" sz="1400" dirty="0">
                <a:solidFill>
                  <a:schemeClr val="bg1"/>
                </a:solidFill>
              </a:rPr>
              <a:t>();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    </a:t>
            </a:r>
            <a:r>
              <a:rPr lang="en-US" sz="1400" dirty="0" err="1">
                <a:solidFill>
                  <a:schemeClr val="bg1"/>
                </a:solidFill>
              </a:rPr>
              <a:t>b.change</a:t>
            </a:r>
            <a:r>
              <a:rPr lang="en-US" sz="1400" dirty="0">
                <a:solidFill>
                  <a:schemeClr val="bg1"/>
                </a:solidFill>
              </a:rPr>
              <a:t>("Rahim");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    </a:t>
            </a:r>
            <a:r>
              <a:rPr lang="en-US" sz="1400" dirty="0" err="1">
                <a:solidFill>
                  <a:schemeClr val="bg1"/>
                </a:solidFill>
              </a:rPr>
              <a:t>cout</a:t>
            </a:r>
            <a:r>
              <a:rPr lang="en-US" sz="1400" dirty="0">
                <a:solidFill>
                  <a:schemeClr val="bg1"/>
                </a:solidFill>
              </a:rPr>
              <a:t> &lt;&lt; "\n  after changing only b:\n";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</a:t>
            </a:r>
            <a:r>
              <a:rPr lang="en-US" sz="1400" dirty="0" err="1">
                <a:solidFill>
                  <a:schemeClr val="bg1"/>
                </a:solidFill>
              </a:rPr>
              <a:t>a.display</a:t>
            </a:r>
            <a:r>
              <a:rPr lang="en-US" sz="1400" dirty="0">
                <a:solidFill>
                  <a:schemeClr val="bg1"/>
                </a:solidFill>
              </a:rPr>
              <a:t>();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</a:t>
            </a:r>
            <a:r>
              <a:rPr lang="en-US" sz="1400" dirty="0" err="1">
                <a:solidFill>
                  <a:schemeClr val="bg1"/>
                </a:solidFill>
              </a:rPr>
              <a:t>b.display</a:t>
            </a:r>
            <a:r>
              <a:rPr lang="en-US" sz="1400" dirty="0">
                <a:solidFill>
                  <a:schemeClr val="bg1"/>
                </a:solidFill>
              </a:rPr>
              <a:t>();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    </a:t>
            </a:r>
            <a:r>
              <a:rPr lang="en-US" sz="1400" dirty="0" err="1">
                <a:solidFill>
                  <a:schemeClr val="bg1"/>
                </a:solidFill>
              </a:rPr>
              <a:t>cout</a:t>
            </a:r>
            <a:r>
              <a:rPr lang="en-US" sz="1400" dirty="0">
                <a:solidFill>
                  <a:schemeClr val="bg1"/>
                </a:solidFill>
              </a:rPr>
              <a:t> &lt;&lt; "\n  now both objects are destroyed:\n";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return 0;</a:t>
            </a:r>
          </a:p>
          <a:p>
            <a:r>
              <a:rPr lang="en-US" sz="1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9022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  · 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to notice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634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ONE constructor message appeared, but TWO destructor messages did.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objects printed the SAME address. They share one block of memory.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Changing b changed a as well, because there is only one block to change.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crash happened at the END of the program, far from the line that caused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08792" cy="1280160"/>
          </a:xfrm>
          <a:prstGeom prst="roundRect">
            <a:avLst>
              <a:gd name="adj" fmla="val 4286"/>
            </a:avLst>
          </a:prstGeom>
          <a:solidFill>
            <a:srgbClr val="FBF0EA"/>
          </a:solidFill>
          <a:ln w="12700">
            <a:solidFill>
              <a:srgbClr val="FB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663440"/>
            <a:ext cx="10085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why a bug like this is so hard to find in a real program.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  · 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fix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20240"/>
            <a:ext cx="10405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Name(const Name &amp;other)          // deep copy constructor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new char[strlen(other.text) + 1];   // NEW memory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strcpy(text, other.text);                  // copy contents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8701" y="45491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different addresses now. Two constructors, two destructors, no crash.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D  ·  50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E2E9EB"/>
          </a:solidFill>
          <a:ln w="12700">
            <a:solidFill>
              <a:srgbClr val="E2E9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45920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class Message that stores text in char *body using new.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6344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constructor that allocates memory and copies the text in.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DEEP copy constructor.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destructor that frees the memory with delete[].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edit(text) that replaces the stored text — careful, the new text may be LONGER.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display() that prints the text and its address.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main(): create m1, copy it into m2, edit m2, and show m1 is unchanged.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your constructor and destructor messages. They must match exactly.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3  ·  BAUST Khulna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12848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four programs. Your WRITTEN PREDICTION for Part B next to the real output.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crash output from Part C, and the fixed output beside 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 ·  DUE NEXT LAB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10908792" cy="1874520"/>
          </a:xfrm>
          <a:prstGeom prst="roundRect">
            <a:avLst>
              <a:gd name="adj" fmla="val 2927"/>
            </a:avLst>
          </a:prstGeom>
          <a:solidFill>
            <a:srgbClr val="1E3540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3192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your BankAccount class from Lab 2 and give it constructors.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448056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default constructor and a parameterised one. Delete openAccount() entirely — the constructor replaces it. Add a destructor that prints which account is closing, and show that accounts close in reverse order.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lab: friend functions, and objects passed to functions.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1273</Words>
  <Application>Microsoft Office PowerPoint</Application>
  <PresentationFormat>Widescreen</PresentationFormat>
  <Paragraphs>225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Sessional — Lab 3</dc:title>
  <dc:subject>PptxGenJS Presentation</dc:subject>
  <dc:creator>Nahin</dc:creator>
  <cp:lastModifiedBy>syed nahin hossain</cp:lastModifiedBy>
  <cp:revision>5</cp:revision>
  <dcterms:created xsi:type="dcterms:W3CDTF">2026-08-07T06:13:42Z</dcterms:created>
  <dcterms:modified xsi:type="dcterms:W3CDTF">2026-08-28T13:31:36Z</dcterms:modified>
</cp:coreProperties>
</file>